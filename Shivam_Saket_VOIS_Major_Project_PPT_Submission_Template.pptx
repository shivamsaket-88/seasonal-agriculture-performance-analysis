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7" d="100"/>
          <a:sy n="87" d="100"/>
        </p:scale>
        <p:origin x="432" y="5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08-Sep-26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08-Sep-26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08-Sep-26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08-Sep-26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08-Sep-26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08-Sep-26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08-Sep-26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08-Sep-26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08-Sep-26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08-Sep-26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08-Sep-26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08-Sep-26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08-Sep-26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08-Sep-26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08-Sep-26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08-Sep-26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08-Sep-26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08-Sep-26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08-Sep-26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08-Sep-26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76624" y="3588198"/>
            <a:ext cx="5142822" cy="861497"/>
          </a:xfrm>
        </p:spPr>
        <p:txBody>
          <a:bodyPr vert="horz" lIns="91440" tIns="45720" rIns="91440" bIns="45720" rtlCol="0" anchor="t">
            <a:noAutofit/>
          </a:bodyPr>
          <a:lstStyle/>
          <a:p>
            <a:r>
              <a:rPr lang="en-US" sz="1800" dirty="0" smtClean="0">
                <a:solidFill>
                  <a:schemeClr val="tx1"/>
                </a:solidFill>
              </a:rPr>
              <a:t>Student Name- </a:t>
            </a:r>
            <a:r>
              <a:rPr lang="en-US" sz="1800" b="0" dirty="0" smtClean="0">
                <a:solidFill>
                  <a:schemeClr val="tx1"/>
                </a:solidFill>
              </a:rPr>
              <a:t>Shivam Saket </a:t>
            </a:r>
            <a:endParaRPr lang="en-IN" sz="1800" b="0" dirty="0">
              <a:solidFill>
                <a:schemeClr val="tx1"/>
              </a:solidFill>
            </a:endParaRPr>
          </a:p>
          <a:p>
            <a:r>
              <a:rPr lang="en-US" sz="1800" dirty="0">
                <a:solidFill>
                  <a:schemeClr val="tx1"/>
                </a:solidFill>
              </a:rPr>
              <a:t>College Name- </a:t>
            </a:r>
            <a:r>
              <a:rPr lang="en-US" sz="1800" b="0" dirty="0" smtClean="0">
                <a:solidFill>
                  <a:schemeClr val="tx1"/>
                </a:solidFill>
              </a:rPr>
              <a:t>Govt. </a:t>
            </a:r>
            <a:r>
              <a:rPr lang="en-US" sz="1800" b="0" dirty="0" err="1" smtClean="0">
                <a:solidFill>
                  <a:schemeClr val="tx1"/>
                </a:solidFill>
              </a:rPr>
              <a:t>Rewa</a:t>
            </a:r>
            <a:r>
              <a:rPr lang="en-US" sz="1800" b="0" dirty="0" smtClean="0">
                <a:solidFill>
                  <a:schemeClr val="tx1"/>
                </a:solidFill>
              </a:rPr>
              <a:t> Engineering College</a:t>
            </a:r>
            <a:endParaRPr lang="en-IN" sz="18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976624" y="2880071"/>
            <a:ext cx="9034596" cy="616674"/>
          </a:xfrm>
        </p:spPr>
        <p:txBody>
          <a:bodyPr>
            <a:noAutofit/>
          </a:bodyPr>
          <a:lstStyle/>
          <a:p>
            <a:r>
              <a:rPr lang="en-GB" sz="2400" b="1" dirty="0"/>
              <a:t>Project Title </a:t>
            </a:r>
            <a:r>
              <a:rPr lang="en-GB" sz="2400" b="1" dirty="0" smtClean="0"/>
              <a:t>-</a:t>
            </a:r>
            <a:r>
              <a:rPr lang="en-US" sz="2400" dirty="0"/>
              <a:t>SEASONAL AGRICULTURE PERFORMANCE ANALYSIS</a:t>
            </a:r>
            <a:endParaRPr lang="en-IN" sz="24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76624" y="4570917"/>
            <a:ext cx="5918179" cy="369332"/>
          </a:xfrm>
          <a:prstGeom prst="rect">
            <a:avLst/>
          </a:prstGeom>
          <a:noFill/>
        </p:spPr>
        <p:txBody>
          <a:bodyPr wrap="square" rtlCol="0">
            <a:spAutoFit/>
          </a:bodyPr>
          <a:lstStyle/>
          <a:p>
            <a:r>
              <a:rPr lang="en-US" b="1" dirty="0"/>
              <a:t>AICTE STU ID </a:t>
            </a:r>
            <a:r>
              <a:rPr lang="en-US" b="1" dirty="0" smtClean="0"/>
              <a:t>:  </a:t>
            </a:r>
            <a:r>
              <a:rPr lang="en-US" dirty="0" smtClean="0"/>
              <a:t>STU6811e00a8d4511746001930</a:t>
            </a:r>
            <a:endParaRPr lang="en-US"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37687" y="2253623"/>
            <a:ext cx="6523698" cy="2995385"/>
          </a:xfrm>
        </p:spPr>
        <p:txBody>
          <a:bodyPr vert="horz" lIns="91440" tIns="45720" rIns="91440" bIns="45720" rtlCol="0" anchor="t">
            <a:normAutofit fontScale="62500" lnSpcReduction="20000"/>
          </a:bodyPr>
          <a:lstStyle/>
          <a:p>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60398" y="2174492"/>
            <a:ext cx="8536355" cy="3382244"/>
          </a:xfrm>
        </p:spPr>
        <p:txBody>
          <a:bodyPr vert="horz" lIns="91440" tIns="45720" rIns="91440" bIns="45720" rtlCol="0" anchor="t">
            <a:noAutofit/>
          </a:bodyPr>
          <a:lstStyle/>
          <a:p>
            <a:pPr marL="0" indent="0">
              <a:buNone/>
            </a:pPr>
            <a:r>
              <a:rPr lang="en-US" sz="1400" b="1" dirty="0"/>
              <a:t>Seasonal Agriculture Performance Analysis</a:t>
            </a:r>
            <a:r>
              <a:rPr lang="en-US" sz="1400" dirty="0"/>
              <a:t> is a data analytics project focused on understanding how agricultural performance changes across different seasons, crops, geographical areas and farming conditions.</a:t>
            </a:r>
          </a:p>
          <a:p>
            <a:pPr marL="0" indent="0">
              <a:buNone/>
            </a:pPr>
            <a:r>
              <a:rPr lang="en-US" sz="1400" dirty="0"/>
              <a:t>The project uses Python-based data analysis, statistical techniques and data visualization to examine:</a:t>
            </a:r>
          </a:p>
          <a:p>
            <a:r>
              <a:rPr lang="en-US" sz="1400" dirty="0"/>
              <a:t>Crop yield and production </a:t>
            </a:r>
          </a:p>
          <a:p>
            <a:r>
              <a:rPr lang="en-US" sz="1400" dirty="0"/>
              <a:t>Environmental conditions </a:t>
            </a:r>
          </a:p>
          <a:p>
            <a:r>
              <a:rPr lang="en-US" sz="1400" dirty="0"/>
              <a:t>Fertilizer and pesticide usage </a:t>
            </a:r>
          </a:p>
          <a:p>
            <a:r>
              <a:rPr lang="en-US" sz="1400" dirty="0"/>
              <a:t>Irrigation and water utilization </a:t>
            </a:r>
          </a:p>
          <a:p>
            <a:r>
              <a:rPr lang="en-US" sz="1400" dirty="0"/>
              <a:t>Water efficiency </a:t>
            </a:r>
          </a:p>
          <a:p>
            <a:r>
              <a:rPr lang="en-US" sz="1400" dirty="0"/>
              <a:t>Revenue, cost and profit </a:t>
            </a:r>
          </a:p>
          <a:p>
            <a:r>
              <a:rPr lang="en-US" sz="1400" dirty="0"/>
              <a:t>Seasonal and crop-level variations </a:t>
            </a:r>
          </a:p>
          <a:p>
            <a:pPr marL="0" indent="0">
              <a:buNone/>
            </a:pPr>
            <a:r>
              <a:rPr lang="en-US" sz="1400" dirty="0"/>
              <a:t>The objective is to convert raw agricultural data into meaningful, evidence-based insights that can support agricultural planning and resource management.</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754425" cy="3750017"/>
          </a:xfrm>
        </p:spPr>
        <p:txBody>
          <a:bodyPr>
            <a:normAutofit fontScale="47500" lnSpcReduction="20000"/>
          </a:bodyPr>
          <a:lstStyle/>
          <a:p>
            <a:pPr>
              <a:lnSpc>
                <a:spcPct val="120000"/>
              </a:lnSpc>
            </a:pPr>
            <a:r>
              <a:rPr lang="en-US" sz="3600" b="1" dirty="0" smtClean="0"/>
              <a:t>Farmers</a:t>
            </a:r>
            <a:r>
              <a:rPr lang="en-US" sz="3600" dirty="0"/>
              <a:t/>
            </a:r>
            <a:br>
              <a:rPr lang="en-US" sz="3600" dirty="0"/>
            </a:br>
            <a:r>
              <a:rPr lang="en-US" sz="3600" dirty="0"/>
              <a:t>For understanding seasonal crop performance, resource usage and profitability.</a:t>
            </a:r>
          </a:p>
          <a:p>
            <a:pPr>
              <a:lnSpc>
                <a:spcPct val="120000"/>
              </a:lnSpc>
            </a:pPr>
            <a:r>
              <a:rPr lang="en-US" sz="3600" b="1" dirty="0" smtClean="0"/>
              <a:t>Agricultural </a:t>
            </a:r>
            <a:r>
              <a:rPr lang="en-US" sz="3600" b="1" dirty="0"/>
              <a:t>Departments</a:t>
            </a:r>
            <a:r>
              <a:rPr lang="en-US" sz="3600" dirty="0"/>
              <a:t/>
            </a:r>
            <a:br>
              <a:rPr lang="en-US" sz="3600" dirty="0"/>
            </a:br>
            <a:r>
              <a:rPr lang="en-US" sz="3600" dirty="0"/>
              <a:t>For studying seasonal agricultural patterns and regional performance.</a:t>
            </a:r>
          </a:p>
          <a:p>
            <a:pPr>
              <a:lnSpc>
                <a:spcPct val="120000"/>
              </a:lnSpc>
            </a:pPr>
            <a:r>
              <a:rPr lang="en-US" sz="3600" b="1" dirty="0" smtClean="0"/>
              <a:t>Agricultural </a:t>
            </a:r>
            <a:r>
              <a:rPr lang="en-US" sz="3600" b="1" dirty="0"/>
              <a:t>Researchers</a:t>
            </a:r>
            <a:r>
              <a:rPr lang="en-US" sz="3600" dirty="0"/>
              <a:t/>
            </a:r>
            <a:br>
              <a:rPr lang="en-US" sz="3600" dirty="0"/>
            </a:br>
            <a:r>
              <a:rPr lang="en-US" sz="3600" dirty="0"/>
              <a:t>For analyzing relationships between environmental conditions and crop outcomes.</a:t>
            </a:r>
          </a:p>
          <a:p>
            <a:pPr>
              <a:lnSpc>
                <a:spcPct val="120000"/>
              </a:lnSpc>
            </a:pPr>
            <a:r>
              <a:rPr lang="en-US" sz="3600" b="1" dirty="0" smtClean="0"/>
              <a:t>Irrigation </a:t>
            </a:r>
            <a:r>
              <a:rPr lang="en-US" sz="3600" b="1" dirty="0"/>
              <a:t>&amp; Resource Managers</a:t>
            </a:r>
            <a:r>
              <a:rPr lang="en-US" sz="3600" dirty="0"/>
              <a:t/>
            </a:r>
            <a:br>
              <a:rPr lang="en-US" sz="3600" dirty="0"/>
            </a:br>
            <a:r>
              <a:rPr lang="en-US" sz="3600" dirty="0"/>
              <a:t>For evaluating water utilization and irrigation efficiency.</a:t>
            </a:r>
          </a:p>
          <a:p>
            <a:pPr>
              <a:lnSpc>
                <a:spcPct val="120000"/>
              </a:lnSpc>
            </a:pPr>
            <a:r>
              <a:rPr lang="en-US" sz="3600" b="1" dirty="0" smtClean="0"/>
              <a:t>Agricultural </a:t>
            </a:r>
            <a:r>
              <a:rPr lang="en-US" sz="3600" b="1" dirty="0"/>
              <a:t>Planners &amp; Analysts</a:t>
            </a:r>
            <a:r>
              <a:rPr lang="en-US" sz="3600" dirty="0"/>
              <a:t/>
            </a:r>
            <a:br>
              <a:rPr lang="en-US" sz="3600" dirty="0"/>
            </a:br>
            <a:r>
              <a:rPr lang="en-US" sz="3600" dirty="0"/>
              <a:t>For supporting evidence-based agricultural planning and decision-making.</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083777" y="1278384"/>
            <a:ext cx="6066692" cy="5324639"/>
          </a:xfrm>
        </p:spPr>
        <p:txBody>
          <a:bodyPr>
            <a:noAutofit/>
          </a:bodyPr>
          <a:lstStyle/>
          <a:p>
            <a:r>
              <a:rPr lang="en-US" sz="1600" b="1" dirty="0"/>
              <a:t>Programming Language</a:t>
            </a:r>
          </a:p>
          <a:p>
            <a:pPr marL="0" indent="0">
              <a:buNone/>
            </a:pPr>
            <a:r>
              <a:rPr lang="en-US" sz="1600" b="1" dirty="0" smtClean="0"/>
              <a:t>     </a:t>
            </a:r>
            <a:r>
              <a:rPr lang="en-US" sz="1600" dirty="0" smtClean="0"/>
              <a:t>Python</a:t>
            </a:r>
            <a:endParaRPr lang="en-US" sz="1600" dirty="0"/>
          </a:p>
          <a:p>
            <a:r>
              <a:rPr lang="en-US" sz="1600" b="1" dirty="0"/>
              <a:t>Libraries</a:t>
            </a:r>
          </a:p>
          <a:p>
            <a:pPr marL="0" indent="0">
              <a:buNone/>
            </a:pPr>
            <a:r>
              <a:rPr lang="en-US" sz="1600" b="1" dirty="0" smtClean="0"/>
              <a:t>     Pandas</a:t>
            </a:r>
            <a:r>
              <a:rPr lang="en-US" sz="1600" dirty="0" smtClean="0"/>
              <a:t> </a:t>
            </a:r>
            <a:r>
              <a:rPr lang="en-US" sz="1600" dirty="0"/>
              <a:t>— Data manipulation and analysis </a:t>
            </a:r>
          </a:p>
          <a:p>
            <a:pPr marL="0" indent="0">
              <a:buNone/>
            </a:pPr>
            <a:r>
              <a:rPr lang="en-US" sz="1600" b="1" dirty="0" smtClean="0"/>
              <a:t>     </a:t>
            </a:r>
            <a:r>
              <a:rPr lang="en-US" sz="1600" b="1" dirty="0" err="1" smtClean="0"/>
              <a:t>NumPy</a:t>
            </a:r>
            <a:r>
              <a:rPr lang="en-US" sz="1600" dirty="0" smtClean="0"/>
              <a:t> </a:t>
            </a:r>
            <a:r>
              <a:rPr lang="en-US" sz="1600" dirty="0"/>
              <a:t>— Numerical computation </a:t>
            </a:r>
          </a:p>
          <a:p>
            <a:pPr marL="0" indent="0">
              <a:buNone/>
            </a:pPr>
            <a:r>
              <a:rPr lang="en-US" sz="1600" b="1" dirty="0" smtClean="0"/>
              <a:t>     </a:t>
            </a:r>
            <a:r>
              <a:rPr lang="en-US" sz="1600" b="1" dirty="0" err="1" smtClean="0"/>
              <a:t>Matplotlib</a:t>
            </a:r>
            <a:r>
              <a:rPr lang="en-US" sz="1600" dirty="0" smtClean="0"/>
              <a:t> </a:t>
            </a:r>
            <a:r>
              <a:rPr lang="en-US" sz="1600" dirty="0"/>
              <a:t>— Data visualization </a:t>
            </a:r>
          </a:p>
          <a:p>
            <a:pPr marL="0" indent="0">
              <a:buNone/>
            </a:pPr>
            <a:r>
              <a:rPr lang="en-US" sz="1600" b="1" dirty="0" smtClean="0"/>
              <a:t>     </a:t>
            </a:r>
            <a:r>
              <a:rPr lang="en-US" sz="1600" b="1" dirty="0" err="1" smtClean="0"/>
              <a:t>Seaborn</a:t>
            </a:r>
            <a:r>
              <a:rPr lang="en-US" sz="1600" dirty="0" smtClean="0"/>
              <a:t> </a:t>
            </a:r>
            <a:r>
              <a:rPr lang="en-US" sz="1600" dirty="0"/>
              <a:t>— Statistical visualization </a:t>
            </a:r>
          </a:p>
          <a:p>
            <a:pPr marL="0" indent="0">
              <a:buNone/>
            </a:pPr>
            <a:r>
              <a:rPr lang="en-US" sz="1600" b="1" dirty="0" smtClean="0"/>
              <a:t>     </a:t>
            </a:r>
            <a:r>
              <a:rPr lang="en-US" sz="1600" b="1" dirty="0" err="1" smtClean="0"/>
              <a:t>SciPy</a:t>
            </a:r>
            <a:r>
              <a:rPr lang="en-US" sz="1600" dirty="0" smtClean="0"/>
              <a:t> </a:t>
            </a:r>
            <a:r>
              <a:rPr lang="en-US" sz="1600" dirty="0"/>
              <a:t>— Statistical analysis </a:t>
            </a:r>
          </a:p>
          <a:p>
            <a:r>
              <a:rPr lang="en-US" sz="1600" b="1" dirty="0" smtClean="0"/>
              <a:t>Platform</a:t>
            </a:r>
          </a:p>
          <a:p>
            <a:pPr marL="0" indent="0">
              <a:buNone/>
            </a:pPr>
            <a:r>
              <a:rPr lang="en-US" sz="1600" b="1" dirty="0" smtClean="0"/>
              <a:t>     </a:t>
            </a:r>
            <a:r>
              <a:rPr lang="en-US" sz="1600" dirty="0" smtClean="0"/>
              <a:t>Google </a:t>
            </a:r>
            <a:r>
              <a:rPr lang="en-US" sz="1600" dirty="0" err="1"/>
              <a:t>Colab</a:t>
            </a:r>
            <a:endParaRPr lang="en-US" sz="1600" dirty="0"/>
          </a:p>
          <a:p>
            <a:pPr marL="457200" lvl="1" indent="0">
              <a:lnSpc>
                <a:spcPct val="150000"/>
              </a:lnSpc>
              <a:buNone/>
            </a:pPr>
            <a:endParaRPr lang="en-IN" sz="7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7984466" cy="830997"/>
          </a:xfrm>
        </p:spPr>
        <p:txBody>
          <a:bodyPr>
            <a:normAutofit fontScale="90000"/>
          </a:bodyPr>
          <a:lstStyle/>
          <a:p>
            <a:r>
              <a:rPr lang="en-US" dirty="0" smtClean="0"/>
              <a:t>RESULT-DATASET OVERVIEW</a:t>
            </a:r>
            <a:r>
              <a:rPr lang="en-GB" dirty="0" smtClean="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368657" y="1316960"/>
            <a:ext cx="4442983" cy="1828826"/>
          </a:xfrm>
          <a:prstGeom prst="rect">
            <a:avLst/>
          </a:prstGeom>
          <a:ln>
            <a:solidFill>
              <a:schemeClr val="tx1"/>
            </a:solidFill>
          </a:ln>
        </p:spPr>
      </p:pic>
      <p:pic>
        <p:nvPicPr>
          <p:cNvPr id="6" name="Picture 5"/>
          <p:cNvPicPr>
            <a:picLocks noChangeAspect="1"/>
          </p:cNvPicPr>
          <p:nvPr/>
        </p:nvPicPr>
        <p:blipFill>
          <a:blip r:embed="rId4"/>
          <a:stretch>
            <a:fillRect/>
          </a:stretch>
        </p:blipFill>
        <p:spPr>
          <a:xfrm>
            <a:off x="4967608" y="1316960"/>
            <a:ext cx="4341106" cy="1824465"/>
          </a:xfrm>
          <a:prstGeom prst="rect">
            <a:avLst/>
          </a:prstGeom>
          <a:ln>
            <a:solidFill>
              <a:schemeClr val="tx1"/>
            </a:solidFill>
          </a:ln>
        </p:spPr>
      </p:pic>
      <p:sp>
        <p:nvSpPr>
          <p:cNvPr id="9" name="Rectangle 1"/>
          <p:cNvSpPr>
            <a:spLocks noGrp="1" noChangeArrowheads="1"/>
          </p:cNvSpPr>
          <p:nvPr>
            <p:ph type="body" sz="quarter" idx="12"/>
          </p:nvPr>
        </p:nvSpPr>
        <p:spPr bwMode="auto">
          <a:xfrm>
            <a:off x="675957" y="3512057"/>
            <a:ext cx="556882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Agricultural activities across different seasons </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Multiple crops and geographical areas </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Environmental and soil conditions </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Resource utilization </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Production and yield </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Economic performance </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8925243" cy="830997"/>
          </a:xfrm>
        </p:spPr>
        <p:txBody>
          <a:bodyPr>
            <a:normAutofit fontScale="90000"/>
          </a:bodyPr>
          <a:lstStyle/>
          <a:p>
            <a:r>
              <a:rPr lang="en-US" dirty="0"/>
              <a:t>RESULT-SEASONAL PERFORMANCE</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stretch>
            <a:fillRect/>
          </a:stretch>
        </p:blipFill>
        <p:spPr>
          <a:xfrm>
            <a:off x="1223107" y="1201586"/>
            <a:ext cx="6628424" cy="3718838"/>
          </a:xfrm>
          <a:prstGeom prst="rect">
            <a:avLst/>
          </a:prstGeom>
          <a:ln>
            <a:solidFill>
              <a:schemeClr val="tx1"/>
            </a:solidFill>
          </a:ln>
        </p:spPr>
      </p:pic>
      <p:sp>
        <p:nvSpPr>
          <p:cNvPr id="6" name="Rectangle 1"/>
          <p:cNvSpPr>
            <a:spLocks noGrp="1" noChangeArrowheads="1"/>
          </p:cNvSpPr>
          <p:nvPr>
            <p:ph type="body" sz="quarter" idx="12"/>
          </p:nvPr>
        </p:nvSpPr>
        <p:spPr bwMode="auto">
          <a:xfrm>
            <a:off x="1223107" y="4697571"/>
            <a:ext cx="348524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Highest average yield: </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Highest average profit:</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Highest water efficiency:</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Lowest/Highest disease risk:</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455814" y="366213"/>
            <a:ext cx="11123320" cy="830997"/>
          </a:xfrm>
        </p:spPr>
        <p:txBody>
          <a:bodyPr>
            <a:normAutofit/>
          </a:bodyPr>
          <a:lstStyle/>
          <a:p>
            <a:r>
              <a:rPr lang="en-US" sz="3600" dirty="0"/>
              <a:t>RESULTS — CROP &amp; SEASON PERFORMANCE</a:t>
            </a:r>
            <a:endParaRPr lang="en-IN" sz="360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p:cNvPicPr>
            <a:picLocks noChangeAspect="1"/>
          </p:cNvPicPr>
          <p:nvPr/>
        </p:nvPicPr>
        <p:blipFill>
          <a:blip r:embed="rId3"/>
          <a:stretch>
            <a:fillRect/>
          </a:stretch>
        </p:blipFill>
        <p:spPr>
          <a:xfrm>
            <a:off x="1040930" y="1275371"/>
            <a:ext cx="7976834" cy="4623832"/>
          </a:xfrm>
          <a:prstGeom prst="rect">
            <a:avLst/>
          </a:prstGeom>
          <a:ln>
            <a:solidFill>
              <a:schemeClr val="tx1"/>
            </a:solidFill>
          </a:ln>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320982" y="237392"/>
            <a:ext cx="11342077" cy="726801"/>
          </a:xfrm>
        </p:spPr>
        <p:txBody>
          <a:bodyPr>
            <a:normAutofit/>
          </a:bodyPr>
          <a:lstStyle/>
          <a:p>
            <a:r>
              <a:rPr lang="en-US" sz="4000" dirty="0"/>
              <a:t>RESULTS — WATER EFFICIENCY ANALYSIS</a:t>
            </a:r>
            <a:endParaRPr lang="en-IN" sz="4000"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p:cNvPicPr>
            <a:picLocks noChangeAspect="1"/>
          </p:cNvPicPr>
          <p:nvPr/>
        </p:nvPicPr>
        <p:blipFill>
          <a:blip r:embed="rId3"/>
          <a:stretch>
            <a:fillRect/>
          </a:stretch>
        </p:blipFill>
        <p:spPr>
          <a:xfrm>
            <a:off x="320982" y="1111262"/>
            <a:ext cx="4796141" cy="3593267"/>
          </a:xfrm>
          <a:prstGeom prst="rect">
            <a:avLst/>
          </a:prstGeom>
          <a:ln>
            <a:solidFill>
              <a:schemeClr val="tx1"/>
            </a:solidFill>
          </a:ln>
        </p:spPr>
      </p:pic>
      <p:pic>
        <p:nvPicPr>
          <p:cNvPr id="9" name="Picture 8"/>
          <p:cNvPicPr>
            <a:picLocks noChangeAspect="1"/>
          </p:cNvPicPr>
          <p:nvPr/>
        </p:nvPicPr>
        <p:blipFill>
          <a:blip r:embed="rId4"/>
          <a:stretch>
            <a:fillRect/>
          </a:stretch>
        </p:blipFill>
        <p:spPr>
          <a:xfrm>
            <a:off x="5286878" y="1081452"/>
            <a:ext cx="5484810" cy="3622431"/>
          </a:xfrm>
          <a:prstGeom prst="rect">
            <a:avLst/>
          </a:prstGeom>
          <a:ln>
            <a:solidFill>
              <a:schemeClr val="tx1"/>
            </a:solidFill>
          </a:ln>
        </p:spPr>
      </p:pic>
      <p:sp>
        <p:nvSpPr>
          <p:cNvPr id="11" name="Rectangle 1"/>
          <p:cNvSpPr>
            <a:spLocks noGrp="1" noChangeArrowheads="1"/>
          </p:cNvSpPr>
          <p:nvPr>
            <p:ph type="body" sz="quarter" idx="12"/>
          </p:nvPr>
        </p:nvSpPr>
        <p:spPr bwMode="auto">
          <a:xfrm>
            <a:off x="432014" y="4608741"/>
            <a:ext cx="358303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Average water usage </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Average water efficiency </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Average yield </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Irrigation method comparison </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420980" y="366213"/>
            <a:ext cx="10261674" cy="830997"/>
          </a:xfrm>
        </p:spPr>
        <p:txBody>
          <a:bodyPr>
            <a:normAutofit/>
          </a:bodyPr>
          <a:lstStyle/>
          <a:p>
            <a:r>
              <a:rPr lang="en-US" sz="4000" dirty="0"/>
              <a:t>RESULTS — ECONOMIC PERFORMANCE</a:t>
            </a:r>
            <a:endParaRPr lang="en-IN" sz="400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stretch>
            <a:fillRect/>
          </a:stretch>
        </p:blipFill>
        <p:spPr>
          <a:xfrm>
            <a:off x="1124839" y="1163236"/>
            <a:ext cx="6441709" cy="3865331"/>
          </a:xfrm>
          <a:prstGeom prst="rect">
            <a:avLst/>
          </a:prstGeom>
          <a:ln>
            <a:solidFill>
              <a:schemeClr val="tx1"/>
            </a:solidFill>
          </a:ln>
        </p:spPr>
      </p:pic>
      <p:sp>
        <p:nvSpPr>
          <p:cNvPr id="6" name="Rectangle 1"/>
          <p:cNvSpPr>
            <a:spLocks noGrp="1" noChangeArrowheads="1"/>
          </p:cNvSpPr>
          <p:nvPr>
            <p:ph type="body" sz="quarter" idx="12"/>
          </p:nvPr>
        </p:nvSpPr>
        <p:spPr bwMode="auto">
          <a:xfrm>
            <a:off x="918829" y="4994592"/>
            <a:ext cx="364715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Average Revenue </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Average Cost </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Average Profit </a:t>
            </a:r>
          </a:p>
          <a:p>
            <a:pPr defTabSz="914400"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Loss-making farm percentage </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940778" y="2015234"/>
            <a:ext cx="8352691" cy="2308324"/>
          </a:xfrm>
          <a:prstGeom prst="rect">
            <a:avLst/>
          </a:prstGeom>
        </p:spPr>
        <p:txBody>
          <a:bodyPr wrap="square">
            <a:spAutoFit/>
          </a:bodyPr>
          <a:lstStyle/>
          <a:p>
            <a:pPr marL="285750" indent="-285750">
              <a:buFont typeface="Wingdings" panose="05000000000000000000" pitchFamily="2" charset="2"/>
              <a:buChar char="§"/>
            </a:pPr>
            <a:r>
              <a:rPr lang="en-US" dirty="0" smtClean="0"/>
              <a:t>Integration </a:t>
            </a:r>
            <a:r>
              <a:rPr lang="en-US" dirty="0"/>
              <a:t>of real-time weather and climate data</a:t>
            </a:r>
          </a:p>
          <a:p>
            <a:pPr marL="285750" indent="-285750">
              <a:buFont typeface="Wingdings" panose="05000000000000000000" pitchFamily="2" charset="2"/>
              <a:buChar char="§"/>
            </a:pPr>
            <a:r>
              <a:rPr lang="en-US" dirty="0" smtClean="0"/>
              <a:t> </a:t>
            </a:r>
            <a:r>
              <a:rPr lang="en-US" dirty="0"/>
              <a:t>Incorporation of historical multi-year agricultural data</a:t>
            </a:r>
          </a:p>
          <a:p>
            <a:pPr marL="285750" indent="-285750">
              <a:buFont typeface="Wingdings" panose="05000000000000000000" pitchFamily="2" charset="2"/>
              <a:buChar char="§"/>
            </a:pPr>
            <a:r>
              <a:rPr lang="en-US" dirty="0" smtClean="0"/>
              <a:t> </a:t>
            </a:r>
            <a:r>
              <a:rPr lang="en-US" dirty="0"/>
              <a:t>Development of predictive crop yield models</a:t>
            </a:r>
          </a:p>
          <a:p>
            <a:pPr marL="285750" indent="-285750">
              <a:buFont typeface="Wingdings" panose="05000000000000000000" pitchFamily="2" charset="2"/>
              <a:buChar char="§"/>
            </a:pPr>
            <a:r>
              <a:rPr lang="en-US" dirty="0" smtClean="0"/>
              <a:t> </a:t>
            </a:r>
            <a:r>
              <a:rPr lang="en-US" dirty="0"/>
              <a:t>Crop recommendation based on seasonal conditions</a:t>
            </a:r>
          </a:p>
          <a:p>
            <a:pPr marL="285750" indent="-285750">
              <a:buFont typeface="Wingdings" panose="05000000000000000000" pitchFamily="2" charset="2"/>
              <a:buChar char="§"/>
            </a:pPr>
            <a:r>
              <a:rPr lang="en-US" dirty="0" smtClean="0"/>
              <a:t> </a:t>
            </a:r>
            <a:r>
              <a:rPr lang="en-US" dirty="0"/>
              <a:t>Advanced water and resource optimization</a:t>
            </a:r>
          </a:p>
          <a:p>
            <a:pPr marL="285750" indent="-285750">
              <a:buFont typeface="Wingdings" panose="05000000000000000000" pitchFamily="2" charset="2"/>
              <a:buChar char="§"/>
            </a:pPr>
            <a:r>
              <a:rPr lang="en-US" dirty="0" smtClean="0"/>
              <a:t> </a:t>
            </a:r>
            <a:r>
              <a:rPr lang="en-US" dirty="0"/>
              <a:t>Regional-level agricultural performance dashboards</a:t>
            </a:r>
          </a:p>
          <a:p>
            <a:pPr marL="285750" indent="-285750">
              <a:buFont typeface="Wingdings" panose="05000000000000000000" pitchFamily="2" charset="2"/>
              <a:buChar char="§"/>
            </a:pPr>
            <a:r>
              <a:rPr lang="en-US" dirty="0" smtClean="0"/>
              <a:t> </a:t>
            </a:r>
            <a:r>
              <a:rPr lang="en-US" dirty="0"/>
              <a:t>Integration of real-time market price information</a:t>
            </a:r>
          </a:p>
          <a:p>
            <a:pPr marL="285750" indent="-285750">
              <a:buFont typeface="Wingdings" panose="05000000000000000000" pitchFamily="2" charset="2"/>
              <a:buChar char="§"/>
            </a:pPr>
            <a:r>
              <a:rPr lang="en-US" dirty="0" smtClean="0"/>
              <a:t> </a:t>
            </a:r>
            <a:r>
              <a:rPr lang="en-US" dirty="0"/>
              <a:t>Machine Learning-based yield and profitability prediction</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797169" y="2305735"/>
            <a:ext cx="6096000" cy="646331"/>
          </a:xfrm>
          <a:prstGeom prst="rect">
            <a:avLst/>
          </a:prstGeom>
        </p:spPr>
        <p:txBody>
          <a:bodyPr>
            <a:spAutoFit/>
          </a:bodyPr>
          <a:lstStyle/>
          <a:p>
            <a:r>
              <a:rPr lang="en-US" dirty="0"/>
              <a:t>https://github.com/ShivamSaket-88/Seasonal-Agriculture-Performance-Analysis.git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AutoShape 2" descr="Displaying VOIS data analyst int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1697" y="1521448"/>
            <a:ext cx="7366576" cy="465075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798923" y="2414954"/>
            <a:ext cx="11340000" cy="700114"/>
          </a:xfrm>
          <a:prstGeom prst="rect">
            <a:avLst/>
          </a:prstGeom>
        </p:spPr>
        <p:txBody>
          <a:bodyPr anchor="ctr">
            <a:normAutofit fontScale="90000"/>
          </a:bodyPr>
          <a:lstStyle/>
          <a:p>
            <a:pPr algn="ctr"/>
            <a:r>
              <a:rPr lang="en-US" sz="4800" b="1" dirty="0" smtClean="0">
                <a:solidFill>
                  <a:schemeClr val="tx1"/>
                </a:solidFill>
              </a:rPr>
              <a:t>THANK YOU</a:t>
            </a:r>
            <a:endParaRPr lang="en-US" sz="4800" b="1" dirty="0">
              <a:solidFill>
                <a:schemeClr val="tx1"/>
              </a:solidFill>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documentManagement/types"/>
    <ds:schemaRef ds:uri="http://purl.org/dc/terms/"/>
    <ds:schemaRef ds:uri="http://purl.org/dc/elements/1.1/"/>
    <ds:schemaRef ds:uri="http://schemas.microsoft.com/office/2006/metadata/properties"/>
    <ds:schemaRef ds:uri="71af3243-3dd4-4a8d-8c0d-dd76da1f02a5"/>
    <ds:schemaRef ds:uri="http://purl.org/dc/dcmitype/"/>
    <ds:schemaRef ds:uri="http://www.w3.org/XML/1998/namespace"/>
    <ds:schemaRef ds:uri="http://schemas.openxmlformats.org/package/2006/metadata/core-properties"/>
    <ds:schemaRef ds:uri="http://schemas.microsoft.com/office/infopath/2007/PartnerControls"/>
    <ds:schemaRef ds:uri="16c05727-aa75-4e4a-9b5f-8a80a1165891"/>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719</TotalTime>
  <Words>399</Words>
  <Application>Microsoft Office PowerPoint</Application>
  <PresentationFormat>Widescreen</PresentationFormat>
  <Paragraphs>77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RESULT-DATASET OVERVIEW </vt:lpstr>
      <vt:lpstr>RESULT-SEASONAL PERFORMANCE</vt:lpstr>
      <vt:lpstr>RESULTS — CROP &amp; SEASON PERFORMANCE</vt:lpstr>
      <vt:lpstr>RESULTS — WATER EFFICIENCY ANALYSIS</vt:lpstr>
      <vt:lpstr>RESULTS — ECONOMIC PERFORMANCE</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Shivam Saket</cp:lastModifiedBy>
  <cp:revision>107</cp:revision>
  <dcterms:created xsi:type="dcterms:W3CDTF">2021-07-11T13:13:15Z</dcterms:created>
  <dcterms:modified xsi:type="dcterms:W3CDTF">2026-09-08T15:34:50Z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